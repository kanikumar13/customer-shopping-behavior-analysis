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1474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Customer Shopping Behavior — Overview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3,900 purchases | 18 features | Goal: uncover spending patterns,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5137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Size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71304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Rows: 3,900 · Columns: 18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Age, Gender, Location, Item, Category, Amount, Season, Rating, Subscription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Missing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0 missing values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8576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EDA &amp; Preparation (Python)</a:t>
            </a:r>
            <a:endParaRPr lang="en-US" sz="3350" dirty="0"/>
          </a:p>
        </p:txBody>
      </p:sp>
      <p:sp>
        <p:nvSpPr>
          <p:cNvPr id="4" name="Text 1"/>
          <p:cNvSpPr/>
          <p:nvPr/>
        </p:nvSpPr>
        <p:spPr>
          <a:xfrm>
            <a:off x="5233360" y="1288058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01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1560116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1683841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Load &amp; Inspect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33360" y="2044502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pandas, df.info(), describe()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33360" y="2589312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861370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0" name="Text 7"/>
          <p:cNvSpPr/>
          <p:nvPr/>
        </p:nvSpPr>
        <p:spPr>
          <a:xfrm>
            <a:off x="5233360" y="2985095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Clean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5233360" y="3345755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Impute Review Rating by category median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233360" y="3890566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162623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4" name="Text 11"/>
          <p:cNvSpPr/>
          <p:nvPr/>
        </p:nvSpPr>
        <p:spPr>
          <a:xfrm>
            <a:off x="5233360" y="4286349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Standardize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233360" y="4647009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Rename to snake_case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233360" y="5191820"/>
            <a:ext cx="342594" cy="2141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04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463877"/>
            <a:ext cx="629686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8" name="Text 15"/>
          <p:cNvSpPr/>
          <p:nvPr/>
        </p:nvSpPr>
        <p:spPr>
          <a:xfrm>
            <a:off x="5233360" y="5587603"/>
            <a:ext cx="629686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Feature Eng.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5233360" y="5948263"/>
            <a:ext cx="629686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age_group, purchase_frequency_days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2069865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SQL Analysis — Business Questions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419574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MySQL used for structured queries and aggregations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892054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Revenue by gender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High-spending discount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Top products by rating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77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Revenue by Gender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86917"/>
            <a:ext cx="6903269" cy="435818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32251" y="2357834"/>
            <a:ext cx="3504219" cy="1177429"/>
          </a:xfrm>
          <a:prstGeom prst="roundRect">
            <a:avLst>
              <a:gd name="adj" fmla="val 674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7608" y="2553196"/>
            <a:ext cx="31135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Female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227608" y="3037483"/>
            <a:ext cx="31135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75,191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032251" y="3724275"/>
            <a:ext cx="3504219" cy="1177429"/>
          </a:xfrm>
          <a:prstGeom prst="roundRect">
            <a:avLst>
              <a:gd name="adj" fmla="val 6742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7608" y="3919637"/>
            <a:ext cx="31135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Male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227608" y="4403923"/>
            <a:ext cx="31135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157,890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32251" y="5114330"/>
            <a:ext cx="4113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Male revenue notably higher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651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Top Products &amp; Ratings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013174"/>
            <a:ext cx="558786" cy="55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6495" y="3013174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Gloves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456495" y="3421856"/>
            <a:ext cx="17449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Avg rating 3.86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3013174"/>
            <a:ext cx="558786" cy="55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2665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Sandals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232665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Avg rating 3.84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3013174"/>
            <a:ext cx="558786" cy="55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8935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Boots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7008935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Avg rating 3.82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3013174"/>
            <a:ext cx="558786" cy="558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5204" y="3013174"/>
            <a:ext cx="17450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Hat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85204" y="3421856"/>
            <a:ext cx="174501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Avg rating 3.80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102298"/>
            <a:ext cx="558786" cy="558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56495" y="4102298"/>
            <a:ext cx="1744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Skirt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456495" y="4510980"/>
            <a:ext cx="17449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Avg rating 3.78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956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Discounts &amp; High-Spenders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00337"/>
            <a:ext cx="6905849" cy="39133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7489" y="1602184"/>
            <a:ext cx="350908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Identified customers using discounts but spending above average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8027489" y="2398713"/>
            <a:ext cx="3509081" cy="1744464"/>
          </a:xfrm>
          <a:prstGeom prst="roundRect">
            <a:avLst>
              <a:gd name="adj" fmla="val 448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19869" y="2591098"/>
            <a:ext cx="312432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Sample rows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19869" y="3064966"/>
            <a:ext cx="31243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Customer IDs with purchase_amounts: 64,73,90,... (total rows: 839)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27489" y="4326334"/>
            <a:ext cx="3509081" cy="1744464"/>
          </a:xfrm>
          <a:prstGeom prst="roundRect">
            <a:avLst>
              <a:gd name="adj" fmla="val 4480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19869" y="4518720"/>
            <a:ext cx="3124320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Discount-dependent items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19869" y="4992588"/>
            <a:ext cx="312432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Top: Hat 50% · Sneakers 49.66% · Coat 49.07% · Sweater 48.17% · Pants 47.37%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39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Segments &amp; Subscriptions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10060"/>
            <a:ext cx="6903269" cy="391189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2251" y="1920478"/>
            <a:ext cx="472468" cy="472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40953" y="1920478"/>
            <a:ext cx="27955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Loyal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40953" y="2404765"/>
            <a:ext cx="27955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3,116 customers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2251" y="3085207"/>
            <a:ext cx="472468" cy="472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0953" y="3085207"/>
            <a:ext cx="27955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New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740953" y="3569494"/>
            <a:ext cx="27955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83 customers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32251" y="4249936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40953" y="4249936"/>
            <a:ext cx="27955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Returning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8740953" y="4734223"/>
            <a:ext cx="27955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701 customers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8032251" y="5249267"/>
            <a:ext cx="35042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Subscription: Yes 1,053 (27%) · No 2,847 (73%)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696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Revenue &amp; Sales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50541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Young Adult leads revenue and sales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Sales counts (approx): Young Adult 1,000 · Middle-aged ~950 · Senior ~850 · Adult ~850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84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Recommendations &amp; Next Steps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76488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Boost Subscriptions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Promote exclusive benefits for subscribers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76488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Customer Loyalty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Reward repeat buyers to grow Loyal segment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76488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Review Discounts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Balance promotion lifts with margin control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Product Positioning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Highlight top-rated &amp; best-selling items in campaigns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0"/>
              </a:rPr>
              <a:t>Targeted Marketing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Focus on high-revenue age groups &amp;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2026-10-30T05:51:34Z</dcterms:created>
  <dcterms:modified xsi:type="dcterms:W3CDTF">2026-10-30T05:51:34Z</dcterms:modified>
</cp:coreProperties>
</file>